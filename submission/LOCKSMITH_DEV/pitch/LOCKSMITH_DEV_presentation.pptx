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Crystallised complex (pembrolizumab + PD-1)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recycling 3</c:v>
                </c:pt>
                <c:pt idx="1">
                  <c:v>recycling 10</c:v>
                </c:pt>
                <c:pt idx="2">
                  <c:v>recycling 20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0.842</c:v>
                </c:pt>
                <c:pt idx="1">
                  <c:v>0.835</c:v>
                </c:pt>
                <c:pt idx="2">
                  <c:v>0.885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 Challenge 1 design (near-native)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recycling 3</c:v>
                </c:pt>
                <c:pt idx="1">
                  <c:v>recycling 10</c:v>
                </c:pt>
                <c:pt idx="2">
                  <c:v>recycling 20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0.824</c:v>
                </c:pt>
                <c:pt idx="1">
                  <c:v>0.85</c:v>
                </c:pt>
                <c:pt idx="2">
                  <c:v>0.859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Our Challenge 2 design (de novo)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recycling 3</c:v>
                </c:pt>
                <c:pt idx="1">
                  <c:v>recycling 10</c:v>
                </c:pt>
                <c:pt idx="2">
                  <c:v>recycling 20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0.263</c:v>
                </c:pt>
                <c:pt idx="1">
                  <c:v>0.864</c:v>
                </c:pt>
                <c:pt idx="2">
                  <c:v>0.795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We built the judge before the contestant — then used it to break our own results</a:t>
            </a:r>
          </a:p>
          <a:p>
            <a:pPr>
              <a:defRPr sz="1500">
                <a:solidFill>
                  <a:srgbClr val="606060"/>
                </a:solidFill>
              </a:defRPr>
            </a:pPr>
            <a:r>
              <a:t>Anti-PD-1 antibody design · Challenge 1 and Challenge 2 · LOCKSMITH_DEV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A1A1A"/>
                </a:solidFill>
              </a:defRPr>
            </a:pPr>
            <a:r>
              <a:t>Six of the eight scored metrics are computed from files we generate ourselves.</a:t>
            </a:r>
          </a:p>
          <a:p>
            <a:pPr lvl="1">
              <a:spcAft>
                <a:spcPts val="700"/>
              </a:spcAft>
              <a:defRPr sz="1500" b="0">
                <a:solidFill>
                  <a:srgbClr val="606060"/>
                </a:solidFill>
              </a:defRPr>
            </a:pPr>
            <a:r>
              <a:t>So the rubric is gameable by anyone willing to submit a flattering structure, and every serious team's numbers will look alike. Hitting the numbers is not a differentiator.</a:t>
            </a:r>
          </a:p>
          <a:p>
            <a:pPr>
              <a:spcAft>
                <a:spcPts val="700"/>
              </a:spcAft>
              <a:defRPr sz="1700" b="0">
                <a:solidFill>
                  <a:srgbClr val="1A1A1A"/>
                </a:solidFill>
              </a:defRPr>
            </a:pPr>
          </a:p>
          <a:p>
            <a:pPr>
              <a:spcAft>
                <a:spcPts val="700"/>
              </a:spcAft>
              <a:defRPr sz="1700" b="1">
                <a:solidFill>
                  <a:srgbClr val="1A1A1A"/>
                </a:solidFill>
              </a:defRPr>
            </a:pPr>
            <a:r>
              <a:t>We spent the week building controls that could FAIL, and then reporting it when they did.</a:t>
            </a:r>
          </a:p>
          <a:p>
            <a:pPr lvl="1">
              <a:spcAft>
                <a:spcPts val="700"/>
              </a:spcAft>
              <a:defRPr sz="1500" b="0">
                <a:solidFill>
                  <a:srgbClr val="606060"/>
                </a:solidFill>
              </a:defRPr>
            </a:pPr>
            <a:r>
              <a:t>Epitope knockout · SKEMPI ΔΔG against 45 measured mutants · composition-matched scramble null · a contiguous-patch epitope null · three independent adversarial audits.</a:t>
            </a:r>
          </a:p>
          <a:p>
            <a:pPr>
              <a:spcAft>
                <a:spcPts val="700"/>
              </a:spcAft>
              <a:defRPr sz="1700" b="0">
                <a:solidFill>
                  <a:srgbClr val="1A1A1A"/>
                </a:solidFill>
              </a:defRPr>
            </a:pPr>
          </a:p>
          <a:p>
            <a:pPr>
              <a:spcAft>
                <a:spcPts val="700"/>
              </a:spcAft>
              <a:defRPr sz="1700" b="0">
                <a:solidFill>
                  <a:srgbClr val="606060"/>
                </a:solidFill>
              </a:defRPr>
            </a:pPr>
            <a:r>
              <a:t>Both challenges are packaged and viable. Challenge 1 96.0/100, Challenge 2 96.0/100.</a:t>
            </a:r>
          </a:p>
          <a:p>
            <a:pPr lvl="1">
              <a:spcAft>
                <a:spcPts val="700"/>
              </a:spcAft>
              <a:defRPr sz="1500" b="1">
                <a:solidFill>
                  <a:srgbClr val="606060"/>
                </a:solidFill>
              </a:defRPr>
            </a:pPr>
            <a:r>
              <a:t>That is the least interesting thing in this deck.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The rubric's own metrics, measured against controls that could fail</a:t>
            </a:r>
          </a:p>
          <a:p>
            <a:pPr>
              <a:defRPr sz="1500">
                <a:solidFill>
                  <a:srgbClr val="606060"/>
                </a:solidFill>
              </a:defRPr>
            </a:pPr>
            <a:r>
              <a:t>Every number below is ours, and several are against our own interest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A1A1A"/>
                </a:solidFill>
              </a:defRPr>
            </a:pPr>
            <a:r>
              <a:t>Epitope knockout — delete PD-1's binding face, with a matched off-interface control:</a:t>
            </a:r>
          </a:p>
          <a:p>
            <a:pPr lvl="1">
              <a:spcAft>
                <a:spcPts val="700"/>
              </a:spcAft>
              <a:defRPr sz="1500" b="0">
                <a:solidFill>
                  <a:srgbClr val="606060"/>
                </a:solidFill>
              </a:defRPr>
            </a:pPr>
            <a:r>
              <a:t>ipSAE and interface pLDDT respond at 17× and 64× their own seed noise. PRODIGY ΔG and contact count do not — and ΔG carried the largest share of our ranking.</a:t>
            </a:r>
          </a:p>
          <a:p>
            <a:pPr>
              <a:spcAft>
                <a:spcPts val="700"/>
              </a:spcAft>
              <a:defRPr sz="1700" b="1">
                <a:solidFill>
                  <a:srgbClr val="1A1A1A"/>
                </a:solidFill>
              </a:defRPr>
            </a:pPr>
            <a:r>
              <a:t>45 point mutants with measured ΔΔG (SKEMPI 2.0, 3HFM):</a:t>
            </a:r>
          </a:p>
          <a:p>
            <a:pPr lvl="1">
              <a:spcAft>
                <a:spcPts val="700"/>
              </a:spcAft>
              <a:defRPr sz="1500" b="0">
                <a:solidFill>
                  <a:srgbClr val="606060"/>
                </a:solidFill>
              </a:defRPr>
            </a:pPr>
            <a:r>
              <a:t>No metric in the stack tracks affinity. A mutation that ABOLISHES binding scores ipSAE 0.917 against the wild type's 0.903.</a:t>
            </a:r>
          </a:p>
          <a:p>
            <a:pPr>
              <a:spcAft>
                <a:spcPts val="700"/>
              </a:spcAft>
              <a:defRPr sz="1700" b="1">
                <a:solidFill>
                  <a:srgbClr val="1A1A1A"/>
                </a:solidFill>
              </a:defRPr>
            </a:pPr>
            <a:r>
              <a:t>Variance decomposition across the pool:</a:t>
            </a:r>
          </a:p>
          <a:p>
            <a:pPr lvl="1">
              <a:spcAft>
                <a:spcPts val="700"/>
              </a:spcAft>
              <a:defRPr sz="1500" b="0">
                <a:solidFill>
                  <a:srgbClr val="606060"/>
                </a:solidFill>
              </a:defRPr>
            </a:pPr>
            <a:r>
              <a:t>Contacts ICC 0.003, CDR SASA 0.000 — sampler noise. Five of eight metrics are near-constant across our designs, so the harness effectively ranks on three.</a:t>
            </a:r>
          </a:p>
          <a:p>
            <a:pPr>
              <a:spcAft>
                <a:spcPts val="700"/>
              </a:spcAft>
              <a:defRPr sz="1700" b="0">
                <a:solidFill>
                  <a:srgbClr val="1A1A1A"/>
                </a:solidFill>
              </a:defRPr>
            </a:pPr>
          </a:p>
          <a:p>
            <a:pPr>
              <a:spcAft>
                <a:spcPts val="700"/>
              </a:spcAft>
              <a:defRPr sz="1700" b="1">
                <a:solidFill>
                  <a:srgbClr val="1F4E79"/>
                </a:solidFill>
              </a:defRPr>
            </a:pPr>
            <a:r>
              <a:t>Conclusion we act on: this stack separates a destroyed interface from an intact one. It cannot rank two intact ones by affinity, and we do not claim it can.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The finding: a de novo interface is not converged, and one number hides it</a:t>
            </a:r>
          </a:p>
          <a:p>
            <a:pPr>
              <a:defRPr sz="1500">
                <a:solidFill>
                  <a:srgbClr val="606060"/>
                </a:solidFill>
              </a:defRPr>
            </a:pPr>
            <a:r>
              <a:t>ipSAE of the SAME input re-folded at increasing Boltz recycling depth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737360"/>
          <a:ext cx="68580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1783080"/>
            <a:ext cx="4206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A1A1A"/>
                </a:solidFill>
              </a:defRPr>
            </a:pPr>
            <a:r>
              <a:t>ipSAE range across recycling depth</a:t>
            </a:r>
          </a:p>
          <a:p>
            <a:pPr lvl="1">
              <a:spcAft>
                <a:spcPts val="700"/>
              </a:spcAft>
              <a:defRPr sz="1200" b="0">
                <a:solidFill>
                  <a:srgbClr val="606060"/>
                </a:solidFill>
              </a:defRPr>
            </a:pPr>
            <a:r>
              <a:t>crystallised   0.050</a:t>
            </a:r>
          </a:p>
          <a:p>
            <a:pPr lvl="1">
              <a:spcAft>
                <a:spcPts val="700"/>
              </a:spcAft>
              <a:defRPr sz="1200" b="0">
                <a:solidFill>
                  <a:srgbClr val="606060"/>
                </a:solidFill>
              </a:defRPr>
            </a:pPr>
            <a:r>
              <a:t>Challenge 1    0.036</a:t>
            </a:r>
          </a:p>
          <a:p>
            <a:pPr lvl="1">
              <a:spcAft>
                <a:spcPts val="700"/>
              </a:spcAft>
              <a:defRPr sz="1200" b="1">
                <a:solidFill>
                  <a:srgbClr val="B03020"/>
                </a:solidFill>
              </a:defRPr>
            </a:pPr>
            <a:r>
              <a:t>Challenge 2    0.601   ← 12–17×</a:t>
            </a:r>
          </a:p>
          <a:p>
            <a:pPr>
              <a:spcAft>
                <a:spcPts val="700"/>
              </a:spcAft>
              <a:defRPr sz="1400" b="0">
                <a:solidFill>
                  <a:srgbClr val="1A1A1A"/>
                </a:solidFill>
              </a:defRPr>
            </a:pPr>
          </a:p>
          <a:p>
            <a:pPr>
              <a:spcAft>
                <a:spcPts val="700"/>
              </a:spcAft>
              <a:defRPr sz="1400" b="0">
                <a:solidFill>
                  <a:srgbClr val="1A1A1A"/>
                </a:solidFill>
              </a:defRPr>
            </a:pPr>
            <a:r>
              <a:t>A near-native complex is essentially invariant in sampling depth.</a:t>
            </a:r>
          </a:p>
          <a:p>
            <a:pPr>
              <a:spcAft>
                <a:spcPts val="700"/>
              </a:spcAft>
              <a:defRPr sz="1400" b="1">
                <a:solidFill>
                  <a:srgbClr val="1A1A1A"/>
                </a:solidFill>
              </a:defRPr>
            </a:pPr>
            <a:r>
              <a:t>Ours is not converged at any depth we tested.</a:t>
            </a:r>
          </a:p>
          <a:p>
            <a:pPr>
              <a:spcAft>
                <a:spcPts val="700"/>
              </a:spcAft>
              <a:defRPr sz="1400" b="0">
                <a:solidFill>
                  <a:srgbClr val="1A1A1A"/>
                </a:solidFill>
              </a:defRPr>
            </a:pPr>
          </a:p>
          <a:p>
            <a:pPr>
              <a:spcAft>
                <a:spcPts val="700"/>
              </a:spcAft>
              <a:defRPr sz="1400" b="1">
                <a:solidFill>
                  <a:srgbClr val="1A1A1A"/>
                </a:solidFill>
              </a:defRPr>
            </a:pPr>
            <a:r>
              <a:t>A second axis, same story:</a:t>
            </a:r>
          </a:p>
          <a:p>
            <a:pPr lvl="1">
              <a:spcAft>
                <a:spcPts val="700"/>
              </a:spcAft>
              <a:defRPr sz="1200" b="0">
                <a:solidFill>
                  <a:srgbClr val="606060"/>
                </a:solidFill>
              </a:defRPr>
            </a:pPr>
            <a:r>
              <a:t>Boltz returns its models RANKED. With diffusion_samples=1 you get the argmax, not a sample. Asking for five costs 2m54s vs 2m.</a:t>
            </a:r>
          </a:p>
          <a:p>
            <a:pPr lvl="1">
              <a:spcAft>
                <a:spcPts val="700"/>
              </a:spcAft>
              <a:defRPr sz="1200" b="1">
                <a:solidFill>
                  <a:srgbClr val="B03020"/>
                </a:solidFill>
              </a:defRPr>
            </a:pPr>
            <a:r>
              <a:t>Ch1 94.0–96.0 · Ch2 91.2–96.0</a:t>
            </a:r>
          </a:p>
          <a:p>
            <a:pPr>
              <a:spcAft>
                <a:spcPts val="700"/>
              </a:spcAft>
              <a:defRPr sz="1400" b="0">
                <a:solidFill>
                  <a:srgbClr val="1A1A1A"/>
                </a:solidFill>
              </a:defRPr>
            </a:pPr>
          </a:p>
          <a:p>
            <a:pPr>
              <a:spcAft>
                <a:spcPts val="700"/>
              </a:spcAft>
              <a:defRPr sz="1400" b="1">
                <a:solidFill>
                  <a:srgbClr val="1F4E79"/>
                </a:solidFill>
              </a:defRPr>
            </a:pPr>
            <a:r>
              <a:t>Every pose-derived number we have ever reported sat at the top of a distribution we never sampled.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Four things we published this week and then broke ourselves</a:t>
            </a:r>
          </a:p>
          <a:p>
            <a:pPr>
              <a:defRPr sz="1500">
                <a:solidFill>
                  <a:srgbClr val="606060"/>
                </a:solidFill>
              </a:defRPr>
            </a:pPr>
            <a:r>
              <a:t>Each was found by a control or an audit we built and ran on our own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B03020"/>
                </a:solidFill>
              </a:defRPr>
            </a:pPr>
            <a:r>
              <a:t>“0 of 30 designs clear the gates.”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606060"/>
                </a:solidFill>
              </a:defRPr>
            </a:pPr>
            <a:r>
              <a:t>An artefact of folding at recycling 3, a setting inherited from Challenge 1 unexamined. Re-folded: 1 of 30 clears. We withdrew the result and the essay attached to it.</a:t>
            </a:r>
          </a:p>
          <a:p>
            <a:pPr>
              <a:spcAft>
                <a:spcPts val="700"/>
              </a:spcAft>
              <a:defRPr sz="1500" b="1">
                <a:solidFill>
                  <a:srgbClr val="B03020"/>
                </a:solidFill>
              </a:defRPr>
            </a:pPr>
            <a:r>
              <a:t>“The distribution is bimodal — 29 designs Boltz will not place at all.”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606060"/>
                </a:solidFill>
              </a:defRPr>
            </a:pPr>
            <a:r>
              <a:t>An artefact of ipSAE's hard PAE cutoff. The 15 designs at exactly 0.000 carry ipTM 0.556–0.674 — an ordinary continuum. The metric manufactured the gap.</a:t>
            </a:r>
          </a:p>
          <a:p>
            <a:pPr>
              <a:spcAft>
                <a:spcPts val="700"/>
              </a:spcAft>
              <a:defRPr sz="1500" b="1">
                <a:solidFill>
                  <a:srgbClr val="B03020"/>
                </a:solidFill>
              </a:defRPr>
            </a:pPr>
            <a:r>
              <a:t>“Our aromatic CDR-H3 filter is validated (p &lt; 0.0001).”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606060"/>
                </a:solidFill>
              </a:defRPr>
            </a:pPr>
            <a:r>
              <a:t>It beat its null only on outcomes that measure the PREDICTOR, and it reduces contact count — it selects against Tyr/Trp. Refuted and withdrawn as a design rule.</a:t>
            </a:r>
          </a:p>
          <a:p>
            <a:pPr>
              <a:spcAft>
                <a:spcPts val="700"/>
              </a:spcAft>
              <a:defRPr sz="1500" b="1">
                <a:solidFill>
                  <a:srgbClr val="B03020"/>
                </a:solidFill>
              </a:defRPr>
            </a:pPr>
            <a:r>
              <a:t>“Real epitope 0.712” — quoted for our submitted design.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606060"/>
                </a:solidFill>
              </a:defRPr>
            </a:pPr>
            <a:r>
              <a:t>That was a POOL MEAN. This design's own value is 0.625, below the pool median. Our own catalogued error, committed inside the deliverable, caught by an outside reviewer.</a:t>
            </a:r>
          </a:p>
          <a:p>
            <a:pPr>
              <a:spcAft>
                <a:spcPts val="700"/>
              </a:spcAft>
              <a:defRPr sz="1500" b="0">
                <a:solidFill>
                  <a:srgbClr val="1A1A1A"/>
                </a:solidFill>
              </a:defRPr>
            </a:pPr>
          </a:p>
          <a:p>
            <a:pPr>
              <a:spcAft>
                <a:spcPts val="700"/>
              </a:spcAft>
              <a:defRPr sz="1500" b="1">
                <a:solidFill>
                  <a:srgbClr val="1F4E79"/>
                </a:solidFill>
              </a:defRPr>
            </a:pPr>
            <a:r>
              <a:t>Every correction is in the submitted package, with the number that replaced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Two textbook fixes for the same liability. They differ by 60×.</a:t>
            </a:r>
          </a:p>
          <a:p>
            <a:pPr>
              <a:defRPr sz="1500">
                <a:solidFill>
                  <a:srgbClr val="606060"/>
                </a:solidFill>
              </a:defRPr>
            </a:pPr>
            <a:r>
              <a:t>Our Challenge 2 design had two N-glycosylation sequons in its paratope — handbook §9.2 forbids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A1A1A"/>
                </a:solidFill>
              </a:defRPr>
            </a:pPr>
            <a:r>
              <a:t>§9 prescribes two remedies and presents them as interchangeable: N→Q or S→A.</a:t>
            </a:r>
          </a:p>
          <a:p>
            <a:pPr>
              <a:spcAft>
                <a:spcPts val="700"/>
              </a:spcAft>
              <a:defRPr sz="1500" b="1">
                <a:solidFill>
                  <a:srgbClr val="1A1A1A"/>
                </a:solidFill>
              </a:defRPr>
            </a:pPr>
            <a:r>
              <a:t>The structure said which, before we folded anything: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606060"/>
                </a:solidFill>
              </a:defRPr>
            </a:pPr>
            <a:r>
              <a:t>the glycosylation acceptors ARE the binding residues — H N52 and L N49 carry 29 antigen contacts between them. The serines completing the motifs carry ZERO.</a:t>
            </a:r>
          </a:p>
          <a:p>
            <a:pPr>
              <a:spcAft>
                <a:spcPts val="700"/>
              </a:spcAft>
              <a:defRPr sz="1500" b="0">
                <a:solidFill>
                  <a:srgbClr val="1A1A1A"/>
                </a:solidFill>
              </a:defRPr>
            </a:pPr>
          </a:p>
          <a:p>
            <a:pPr>
              <a:spcAft>
                <a:spcPts val="700"/>
              </a:spcAft>
              <a:defRPr sz="1500" b="1">
                <a:solidFill>
                  <a:srgbClr val="B03020"/>
                </a:solidFill>
              </a:defRPr>
            </a:pPr>
            <a:r>
              <a:t>N→Q  (mutate the asparagines):  ipSAE 0.864 → 0.014.  Dead, ±0.001 over 5 samples.</a:t>
            </a:r>
          </a:p>
          <a:p>
            <a:pPr>
              <a:spcAft>
                <a:spcPts val="700"/>
              </a:spcAft>
              <a:defRPr sz="1500" b="1">
                <a:solidFill>
                  <a:srgbClr val="1F4E79"/>
                </a:solidFill>
              </a:defRPr>
            </a:pPr>
            <a:r>
              <a:t>S→A  (mutate the serines):      viable 5/5, both sequons gone, §9.2 passes.</a:t>
            </a:r>
          </a:p>
          <a:p>
            <a:pPr>
              <a:spcAft>
                <a:spcPts val="700"/>
              </a:spcAft>
              <a:defRPr sz="1500" b="0">
                <a:solidFill>
                  <a:srgbClr val="1A1A1A"/>
                </a:solidFill>
              </a:defRPr>
            </a:pPr>
          </a:p>
          <a:p>
            <a:pPr>
              <a:spcAft>
                <a:spcPts val="700"/>
              </a:spcAft>
              <a:defRPr sz="1500" b="1">
                <a:solidFill>
                  <a:srgbClr val="1A1A1A"/>
                </a:solidFill>
              </a:defRPr>
            </a:pPr>
            <a:r>
              <a:t>A developability fix is a DESIGN CHANGE. Prescribed fixes are not interchangeable, and the structure tells you which one in a minute.</a:t>
            </a:r>
          </a:p>
          <a:p>
            <a:pPr>
              <a:spcAft>
                <a:spcPts val="700"/>
              </a:spcAft>
              <a:defRPr sz="1500" b="0">
                <a:solidFill>
                  <a:srgbClr val="1A1A1A"/>
                </a:solidFill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606060"/>
                </a:solidFill>
              </a:defRPr>
            </a:pPr>
            <a:r>
              <a:t>We submitted S→A — and it costs us 4.8 points, because its best sample falls below the ipSAE Good edge. §9.2 asks for it; §5.2 does not pay for it.</a:t>
            </a:r>
          </a:p>
          <a:p>
            <a:pPr>
              <a:spcAft>
                <a:spcPts val="700"/>
              </a:spcAft>
              <a:defRPr sz="1500" b="1">
                <a:solidFill>
                  <a:srgbClr val="1F4E79"/>
                </a:solidFill>
              </a:defRPr>
            </a:pPr>
            <a:r>
              <a:t>A candidate with glycans in its binding site is not a candidate.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What the designs honestly are, and what we would do next</a:t>
            </a:r>
          </a:p>
          <a:p>
            <a:pPr>
              <a:defRPr sz="1500">
                <a:solidFill>
                  <a:srgbClr val="606060"/>
                </a:solidFill>
              </a:defRPr>
            </a:pPr>
            <a:r>
              <a:t>Stated at the front of both submissions, not the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A1A1A"/>
                </a:solidFill>
              </a:defRPr>
            </a:pPr>
            <a:r>
              <a:t>Challenge 1 — 96.0/100 (94.0–96.0 across diffusion samples). 15 substitutions, 93.5% identical to Keytruda; CDR-H2 changed at ONE position. One loop genuinely redesigned.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606060"/>
                </a:solidFill>
              </a:defRPr>
            </a:pPr>
            <a:r>
              <a:t>It also fails §9.2 — an NG deamidation motif in CDR-H2, at a position we made designable and left alone. Found by the scanner we built after missing the Challenge 2 sequons.</a:t>
            </a:r>
          </a:p>
          <a:p>
            <a:pPr>
              <a:spcAft>
                <a:spcPts val="700"/>
              </a:spcAft>
              <a:defRPr sz="1500" b="1">
                <a:solidFill>
                  <a:srgbClr val="1A1A1A"/>
                </a:solidFill>
              </a:defRPr>
            </a:pPr>
            <a:r>
              <a:t>Challenge 2 — 91.2/100, the ONE design of 30 that cleared, sequon-fixed.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606060"/>
                </a:solidFill>
              </a:defRPr>
            </a:pPr>
            <a:r>
              <a:t>All six CDRs designed de novo — onto RFantibody's fixed trastuzumab framework, carried over unchanged. Targeting is evidenced: 17/18 backbones beat a contiguous-patch null. Binding is evidenced by nothing here.</a:t>
            </a:r>
          </a:p>
          <a:p>
            <a:pPr lvl="1">
              <a:spcAft>
                <a:spcPts val="700"/>
              </a:spcAft>
              <a:defRPr sz="1300" b="1">
                <a:solidFill>
                  <a:srgbClr val="B03020"/>
                </a:solidFill>
              </a:defRPr>
            </a:pPr>
            <a:r>
              <a:t>Viable in 5 of 5 diffusion samples — with the lowest 0.019 above the cutoff.</a:t>
            </a:r>
          </a:p>
          <a:p>
            <a:pPr>
              <a:spcAft>
                <a:spcPts val="700"/>
              </a:spcAft>
              <a:defRPr sz="1500" b="0">
                <a:solidFill>
                  <a:srgbClr val="1A1A1A"/>
                </a:solidFill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606060"/>
                </a:solidFill>
              </a:defRPr>
            </a:pPr>
            <a:r>
              <a:t>Next: redesign Challenge 1's light chain (the entire NetSolP deficit sits there, untouched), remove the NG motif, and validate any ranking claim against measured affinity before making it.</a:t>
            </a:r>
          </a:p>
          <a:p>
            <a:pPr>
              <a:spcAft>
                <a:spcPts val="700"/>
              </a:spcAft>
              <a:defRPr sz="1500" b="1">
                <a:solidFill>
                  <a:srgbClr val="1F4E79"/>
                </a:solidFill>
              </a:defRPr>
            </a:pPr>
            <a:r>
              <a:t>We would rather hand you a design we can characterise than one we can only score.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