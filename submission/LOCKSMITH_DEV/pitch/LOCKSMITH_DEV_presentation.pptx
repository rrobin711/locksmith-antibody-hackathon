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We built the judge before the contestant — then showed the judge cannot see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46304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/>
            </a:pPr>
            <a:r>
              <a:t>Challenge 1: ProteinMPNN redesign of pembrolizumab's heavy CDRs on 5GGS, folded with Boltz-2.</a:t>
            </a:r>
          </a:p>
          <a:p>
            <a:pPr>
              <a:defRPr sz="1800"/>
            </a:pPr>
            <a:r>
              <a:t>Named design scores 96.0/100 and clears all eight hard cutoffs.</a:t>
            </a:r>
          </a:p>
          <a:p>
            <a:pPr>
              <a:defRPr sz="1800"/>
            </a:pPr>
            <a:r>
              <a:t>That number is the least interesting thing in this deck.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rubric's own metrics, measured against controls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46304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/>
            </a:pPr>
            <a:r>
              <a:t>Epitope knockout (delete PD-1's binding face, matched off-interface control):</a:t>
            </a:r>
          </a:p>
          <a:p>
            <a:pPr>
              <a:defRPr sz="1800"/>
            </a:pPr>
            <a:r>
              <a:t>   ipSAE and interface pLDDT respond — 17x and 64x their own seed noise.</a:t>
            </a:r>
          </a:p>
          <a:p>
            <a:pPr>
              <a:defRPr sz="1800"/>
            </a:pPr>
            <a:r>
              <a:t>   PRODIGY dG and contact count do not. dG carries the largest share of our ranking.</a:t>
            </a:r>
          </a:p>
          <a:p>
            <a:pPr>
              <a:defRPr sz="1800"/>
            </a:pPr>
            <a:r>
              <a:t>Contacts ICC = 0.003 and CDR SASA ICC = 0.000 — pure sampler noise.</a:t>
            </a:r>
          </a:p>
          <a:p>
            <a:pPr>
              <a:defRPr sz="1800"/>
            </a:pPr>
            <a:r>
              <a:t>Five of the eight rubric metrics are constants across our pool; the harness ranks on three.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Against experiment: 45 mutants with measured ddG (SKEMPI, 3HFM)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46304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/>
            </a:pPr>
            <a:r>
              <a:t>No metric tracks measured binding affinity (bound: no effect stronger than rho ~ 0.41).</a:t>
            </a:r>
          </a:p>
          <a:p>
            <a:pPr>
              <a:defRPr sz="1800"/>
            </a:pPr>
            <a:r>
              <a:t>Mutations that abolish binding score like the wild type:</a:t>
            </a:r>
          </a:p>
          <a:p>
            <a:pPr>
              <a:defRPr sz="1800"/>
            </a:pPr>
            <a:r>
              <a:t>   NL31A, ddG +21.8 kcal/mol -&gt; ipSAE 0.917 vs wild type 0.903.</a:t>
            </a:r>
          </a:p>
          <a:p>
            <a:pPr>
              <a:defRPr sz="1800"/>
            </a:pPr>
            <a:r>
              <a:t>The metrics move a lot across mutants (ipSAE 19.5x its seed sd) — just not with affinity.</a:t>
            </a:r>
          </a:p>
          <a:p>
            <a:pPr>
              <a:defRPr sz="1800"/>
            </a:pPr>
            <a:r>
              <a:t>Conclusion: this stack separates a destroyed interface from an intact one.</a:t>
            </a:r>
          </a:p>
          <a:p>
            <a:pPr>
              <a:defRPr sz="1800"/>
            </a:pPr>
            <a:r>
              <a:t>It cannot rank two intact ones by affinity.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What our design is, honestly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46304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/>
            </a:pPr>
            <a:r>
              <a:t>ipSAE 0.824 | DockQ 0.816 | dG -12.7 | NetSolP 0.569 | CDR-H3 identity 38.5%</a:t>
            </a:r>
          </a:p>
          <a:p>
            <a:pPr>
              <a:defRPr sz="1800"/>
            </a:pPr>
            <a:r>
              <a:t>Specificity: predicted cross-reactivity with TIM-3, a same-fold checkpoint receptor.</a:t>
            </a:r>
          </a:p>
          <a:p>
            <a:pPr>
              <a:defRPr sz="1800"/>
            </a:pPr>
            <a:r>
              <a:t>   0.513 vs pembrolizumab 0.331 vs a real TIM-3 binder 0.682 (p = 0.038, n = 8).</a:t>
            </a:r>
          </a:p>
          <a:p>
            <a:pPr>
              <a:defRPr sz="1800"/>
            </a:pPr>
            <a:r>
              <a:t>Ranking within the viable pool is NOT supported by the metrics — and we can now price that:</a:t>
            </a:r>
          </a:p>
          <a:p>
            <a:pPr>
              <a:defRPr sz="1800"/>
            </a:pPr>
            <a:r>
              <a:t>   correcting a band-convention bug in our own selection surrogate renames the winner, but by 0.19 points against a 0.23 seed sd.</a:t>
            </a:r>
          </a:p>
          <a:p>
            <a:pPr>
              <a:defRPr sz="1800"/>
            </a:pPr>
            <a:r>
              <a:t>Developability is capped by the light chain, which we never redesigned.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What we would do next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46304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/>
            </a:pPr>
            <a:r>
              <a:t>Redesign the light-chain CDRs — the NetSolP deficit sits there. VL is pembrolizumab's 0.569 in all 239 designs and `min()` pins the score to it.</a:t>
            </a:r>
          </a:p>
          <a:p>
            <a:pPr>
              <a:defRPr sz="1800"/>
            </a:pPr>
            <a:r>
              <a:t>   (This design's VH is 0.699, just under the 0.70 Good edge — 168/239 of the pool clear it; this one does not.)</a:t>
            </a:r>
          </a:p>
          <a:p>
            <a:pPr>
              <a:defRPr sz="1800"/>
            </a:pPr>
            <a:r>
              <a:t>Validate any ranking claim against measured affinity before making it.</a:t>
            </a:r>
          </a:p>
          <a:p>
            <a:pPr>
              <a:defRPr sz="1800"/>
            </a:pPr>
            <a:r>
              <a:t>Challenge 2 (de novo): RFantibody + ProteinMPNN, 30 designs, folded with Boltz-2. ONE clears all seven gates — 96.0/100, ipSAE 0.864.</a:t>
            </a:r>
          </a:p>
          <a:p>
            <a:pPr>
              <a:defRPr sz="1800"/>
            </a:pPr>
            <a:r>
              <a:t>   Targeting is evidenced: 17/18 backbones beat a contiguous same-size patch null (0.712 vs 0.154). Binding is NOT evidenced by anything here.</a:t>
            </a:r>
          </a:p>
          <a:p>
            <a:pPr>
              <a:defRPr sz="1800"/>
            </a:pPr>
            <a:r>
              <a:t>   The other 29 fail ipSAE alone, all at &lt;=0.331. At recycling 3 we measured 0/30 — an under-sampling artefact we caught and withdrew.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